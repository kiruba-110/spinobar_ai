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8" r:id="rId4"/>
    <p:sldId id="269" r:id="rId5"/>
    <p:sldId id="270" r:id="rId6"/>
    <p:sldId id="273" r:id="rId7"/>
    <p:sldId id="271" r:id="rId8"/>
    <p:sldId id="274" r:id="rId9"/>
    <p:sldId id="277" r:id="rId10"/>
    <p:sldId id="275" r:id="rId11"/>
    <p:sldId id="272" r:id="rId12"/>
  </p:sldIdLst>
  <p:sldSz cx="12153900" cy="6858000"/>
  <p:notesSz cx="121539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955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6732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884988" y="0"/>
            <a:ext cx="5265737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C5505A-8970-4936-AC96-8803CAC5771A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25900" y="857250"/>
            <a:ext cx="4102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6025" y="3300413"/>
            <a:ext cx="972185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6732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884988" y="6513513"/>
            <a:ext cx="5265737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65019-FDB3-4955-9F37-97CB93450C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277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65019-FDB3-4955-9F37-97CB93450C8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866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065019-FDB3-4955-9F37-97CB93450C8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153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1542" y="2125980"/>
            <a:ext cx="10330815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E6EC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3085" y="3840480"/>
            <a:ext cx="850773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FD8D2-A6B8-4B98-88A9-A395A6268EF8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E6EC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3DEC4-D136-4E59-B330-CC39F84B34CB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175"/>
            <a:ext cx="6267450" cy="5092700"/>
          </a:xfrm>
          <a:custGeom>
            <a:avLst/>
            <a:gdLst/>
            <a:ahLst/>
            <a:cxnLst/>
            <a:rect l="l" t="t" r="r" b="b"/>
            <a:pathLst>
              <a:path w="6267450" h="5092700">
                <a:moveTo>
                  <a:pt x="1239295" y="5080000"/>
                </a:moveTo>
                <a:lnTo>
                  <a:pt x="1156848" y="5080000"/>
                </a:lnTo>
                <a:lnTo>
                  <a:pt x="1167180" y="5092700"/>
                </a:lnTo>
                <a:lnTo>
                  <a:pt x="1221422" y="5092700"/>
                </a:lnTo>
                <a:lnTo>
                  <a:pt x="1239295" y="5080000"/>
                </a:lnTo>
                <a:close/>
              </a:path>
              <a:path w="6267450" h="5092700">
                <a:moveTo>
                  <a:pt x="1566037" y="5029200"/>
                </a:moveTo>
                <a:lnTo>
                  <a:pt x="1020233" y="5029200"/>
                </a:lnTo>
                <a:lnTo>
                  <a:pt x="1024686" y="5041900"/>
                </a:lnTo>
                <a:lnTo>
                  <a:pt x="1047228" y="5054600"/>
                </a:lnTo>
                <a:lnTo>
                  <a:pt x="1107136" y="5080000"/>
                </a:lnTo>
                <a:lnTo>
                  <a:pt x="1239295" y="5080000"/>
                </a:lnTo>
                <a:lnTo>
                  <a:pt x="1255268" y="5092700"/>
                </a:lnTo>
                <a:lnTo>
                  <a:pt x="1347406" y="5092700"/>
                </a:lnTo>
                <a:lnTo>
                  <a:pt x="1377354" y="5080000"/>
                </a:lnTo>
                <a:lnTo>
                  <a:pt x="1398397" y="5067300"/>
                </a:lnTo>
                <a:lnTo>
                  <a:pt x="1438396" y="5054600"/>
                </a:lnTo>
                <a:lnTo>
                  <a:pt x="1485217" y="5041900"/>
                </a:lnTo>
                <a:lnTo>
                  <a:pt x="1530538" y="5041900"/>
                </a:lnTo>
                <a:lnTo>
                  <a:pt x="1566037" y="5029200"/>
                </a:lnTo>
                <a:close/>
              </a:path>
              <a:path w="6267450" h="5092700">
                <a:moveTo>
                  <a:pt x="1734931" y="5016500"/>
                </a:moveTo>
                <a:lnTo>
                  <a:pt x="1601978" y="5016500"/>
                </a:lnTo>
                <a:lnTo>
                  <a:pt x="1633474" y="5029200"/>
                </a:lnTo>
                <a:lnTo>
                  <a:pt x="1661160" y="5041900"/>
                </a:lnTo>
                <a:lnTo>
                  <a:pt x="1697482" y="5041900"/>
                </a:lnTo>
                <a:lnTo>
                  <a:pt x="1707425" y="5029200"/>
                </a:lnTo>
                <a:lnTo>
                  <a:pt x="1734931" y="5016500"/>
                </a:lnTo>
                <a:close/>
              </a:path>
              <a:path w="6267450" h="5092700">
                <a:moveTo>
                  <a:pt x="1593308" y="5016500"/>
                </a:moveTo>
                <a:lnTo>
                  <a:pt x="984582" y="5016500"/>
                </a:lnTo>
                <a:lnTo>
                  <a:pt x="997775" y="5029200"/>
                </a:lnTo>
                <a:lnTo>
                  <a:pt x="1584436" y="5029200"/>
                </a:lnTo>
                <a:lnTo>
                  <a:pt x="1593308" y="5016500"/>
                </a:lnTo>
                <a:close/>
              </a:path>
              <a:path w="6267450" h="5092700">
                <a:moveTo>
                  <a:pt x="1760093" y="5003800"/>
                </a:moveTo>
                <a:lnTo>
                  <a:pt x="854298" y="5003800"/>
                </a:lnTo>
                <a:lnTo>
                  <a:pt x="887739" y="5016500"/>
                </a:lnTo>
                <a:lnTo>
                  <a:pt x="1734931" y="5016500"/>
                </a:lnTo>
                <a:lnTo>
                  <a:pt x="1759364" y="5029200"/>
                </a:lnTo>
                <a:lnTo>
                  <a:pt x="1760093" y="5003800"/>
                </a:lnTo>
                <a:close/>
              </a:path>
              <a:path w="6267450" h="5092700">
                <a:moveTo>
                  <a:pt x="1881505" y="4953000"/>
                </a:moveTo>
                <a:lnTo>
                  <a:pt x="715568" y="4953000"/>
                </a:lnTo>
                <a:lnTo>
                  <a:pt x="721601" y="4965700"/>
                </a:lnTo>
                <a:lnTo>
                  <a:pt x="730707" y="4965700"/>
                </a:lnTo>
                <a:lnTo>
                  <a:pt x="744867" y="4978400"/>
                </a:lnTo>
                <a:lnTo>
                  <a:pt x="746848" y="4978400"/>
                </a:lnTo>
                <a:lnTo>
                  <a:pt x="766724" y="4991100"/>
                </a:lnTo>
                <a:lnTo>
                  <a:pt x="772723" y="5003800"/>
                </a:lnTo>
                <a:lnTo>
                  <a:pt x="1840864" y="5003800"/>
                </a:lnTo>
                <a:lnTo>
                  <a:pt x="1881505" y="4953000"/>
                </a:lnTo>
                <a:close/>
              </a:path>
              <a:path w="6267450" h="5092700">
                <a:moveTo>
                  <a:pt x="6263132" y="0"/>
                </a:moveTo>
                <a:lnTo>
                  <a:pt x="0" y="0"/>
                </a:lnTo>
                <a:lnTo>
                  <a:pt x="0" y="4889500"/>
                </a:lnTo>
                <a:lnTo>
                  <a:pt x="399294" y="4889500"/>
                </a:lnTo>
                <a:lnTo>
                  <a:pt x="455991" y="4902200"/>
                </a:lnTo>
                <a:lnTo>
                  <a:pt x="511290" y="4927600"/>
                </a:lnTo>
                <a:lnTo>
                  <a:pt x="560333" y="4940300"/>
                </a:lnTo>
                <a:lnTo>
                  <a:pt x="598258" y="4940300"/>
                </a:lnTo>
                <a:lnTo>
                  <a:pt x="613988" y="4965700"/>
                </a:lnTo>
                <a:lnTo>
                  <a:pt x="653542" y="4965700"/>
                </a:lnTo>
                <a:lnTo>
                  <a:pt x="659456" y="4953000"/>
                </a:lnTo>
                <a:lnTo>
                  <a:pt x="1881505" y="4953000"/>
                </a:lnTo>
                <a:lnTo>
                  <a:pt x="1898314" y="4940300"/>
                </a:lnTo>
                <a:lnTo>
                  <a:pt x="1916731" y="4927600"/>
                </a:lnTo>
                <a:lnTo>
                  <a:pt x="1937029" y="4902200"/>
                </a:lnTo>
                <a:lnTo>
                  <a:pt x="1959483" y="4889500"/>
                </a:lnTo>
                <a:lnTo>
                  <a:pt x="1996869" y="4876800"/>
                </a:lnTo>
                <a:lnTo>
                  <a:pt x="2039480" y="4851400"/>
                </a:lnTo>
                <a:lnTo>
                  <a:pt x="2086170" y="4826000"/>
                </a:lnTo>
                <a:lnTo>
                  <a:pt x="2135797" y="4813300"/>
                </a:lnTo>
                <a:lnTo>
                  <a:pt x="2187218" y="4787900"/>
                </a:lnTo>
                <a:lnTo>
                  <a:pt x="2239290" y="4775200"/>
                </a:lnTo>
                <a:lnTo>
                  <a:pt x="2290868" y="4749800"/>
                </a:lnTo>
                <a:lnTo>
                  <a:pt x="2340811" y="4737100"/>
                </a:lnTo>
                <a:lnTo>
                  <a:pt x="2387974" y="4724400"/>
                </a:lnTo>
                <a:lnTo>
                  <a:pt x="2431214" y="4711700"/>
                </a:lnTo>
                <a:lnTo>
                  <a:pt x="2469388" y="4711700"/>
                </a:lnTo>
                <a:lnTo>
                  <a:pt x="2745105" y="4546600"/>
                </a:lnTo>
                <a:lnTo>
                  <a:pt x="2785078" y="4546600"/>
                </a:lnTo>
                <a:lnTo>
                  <a:pt x="2814435" y="4533900"/>
                </a:lnTo>
                <a:lnTo>
                  <a:pt x="2944762" y="4533900"/>
                </a:lnTo>
                <a:lnTo>
                  <a:pt x="2985740" y="4521200"/>
                </a:lnTo>
                <a:lnTo>
                  <a:pt x="3030682" y="4521200"/>
                </a:lnTo>
                <a:lnTo>
                  <a:pt x="3081472" y="4508500"/>
                </a:lnTo>
                <a:lnTo>
                  <a:pt x="3139999" y="4508500"/>
                </a:lnTo>
                <a:lnTo>
                  <a:pt x="3208147" y="4495800"/>
                </a:lnTo>
                <a:lnTo>
                  <a:pt x="3246175" y="4483100"/>
                </a:lnTo>
                <a:lnTo>
                  <a:pt x="3286567" y="4483100"/>
                </a:lnTo>
                <a:lnTo>
                  <a:pt x="3329161" y="4470400"/>
                </a:lnTo>
                <a:lnTo>
                  <a:pt x="3373797" y="4470400"/>
                </a:lnTo>
                <a:lnTo>
                  <a:pt x="3468557" y="4445000"/>
                </a:lnTo>
                <a:lnTo>
                  <a:pt x="3518360" y="4445000"/>
                </a:lnTo>
                <a:lnTo>
                  <a:pt x="3622010" y="4419600"/>
                </a:lnTo>
                <a:lnTo>
                  <a:pt x="3675536" y="4419600"/>
                </a:lnTo>
                <a:lnTo>
                  <a:pt x="3897249" y="4368800"/>
                </a:lnTo>
                <a:lnTo>
                  <a:pt x="3960488" y="4356100"/>
                </a:lnTo>
                <a:lnTo>
                  <a:pt x="3993090" y="4330700"/>
                </a:lnTo>
                <a:lnTo>
                  <a:pt x="4008092" y="4305300"/>
                </a:lnTo>
                <a:lnTo>
                  <a:pt x="4018535" y="4292600"/>
                </a:lnTo>
                <a:lnTo>
                  <a:pt x="4037457" y="4267200"/>
                </a:lnTo>
                <a:lnTo>
                  <a:pt x="4078055" y="4254500"/>
                </a:lnTo>
                <a:lnTo>
                  <a:pt x="4109831" y="4229100"/>
                </a:lnTo>
                <a:lnTo>
                  <a:pt x="4139201" y="4203700"/>
                </a:lnTo>
                <a:lnTo>
                  <a:pt x="4172585" y="4178300"/>
                </a:lnTo>
                <a:lnTo>
                  <a:pt x="4203262" y="4140200"/>
                </a:lnTo>
                <a:lnTo>
                  <a:pt x="4236401" y="4102100"/>
                </a:lnTo>
                <a:lnTo>
                  <a:pt x="4269163" y="4064000"/>
                </a:lnTo>
                <a:lnTo>
                  <a:pt x="4298707" y="4025900"/>
                </a:lnTo>
                <a:lnTo>
                  <a:pt x="4322191" y="4000500"/>
                </a:lnTo>
                <a:lnTo>
                  <a:pt x="4362771" y="3962400"/>
                </a:lnTo>
                <a:lnTo>
                  <a:pt x="4409239" y="3937000"/>
                </a:lnTo>
                <a:lnTo>
                  <a:pt x="4456360" y="3898900"/>
                </a:lnTo>
                <a:lnTo>
                  <a:pt x="4498897" y="3873500"/>
                </a:lnTo>
                <a:lnTo>
                  <a:pt x="4531614" y="3848100"/>
                </a:lnTo>
                <a:lnTo>
                  <a:pt x="4565078" y="3848100"/>
                </a:lnTo>
                <a:lnTo>
                  <a:pt x="4567975" y="3835400"/>
                </a:lnTo>
                <a:lnTo>
                  <a:pt x="4583303" y="3822700"/>
                </a:lnTo>
                <a:lnTo>
                  <a:pt x="4577131" y="3810000"/>
                </a:lnTo>
                <a:lnTo>
                  <a:pt x="4593463" y="3810000"/>
                </a:lnTo>
                <a:lnTo>
                  <a:pt x="4611127" y="3797300"/>
                </a:lnTo>
                <a:lnTo>
                  <a:pt x="4608957" y="3784600"/>
                </a:lnTo>
                <a:lnTo>
                  <a:pt x="4616323" y="3784600"/>
                </a:lnTo>
                <a:lnTo>
                  <a:pt x="4624324" y="3771900"/>
                </a:lnTo>
                <a:lnTo>
                  <a:pt x="4681093" y="3771900"/>
                </a:lnTo>
                <a:lnTo>
                  <a:pt x="4686708" y="3759200"/>
                </a:lnTo>
                <a:lnTo>
                  <a:pt x="4697273" y="3759200"/>
                </a:lnTo>
                <a:lnTo>
                  <a:pt x="4702175" y="3746500"/>
                </a:lnTo>
                <a:lnTo>
                  <a:pt x="4719544" y="3733800"/>
                </a:lnTo>
                <a:lnTo>
                  <a:pt x="4748450" y="3708400"/>
                </a:lnTo>
                <a:lnTo>
                  <a:pt x="4777523" y="3695700"/>
                </a:lnTo>
                <a:lnTo>
                  <a:pt x="4795393" y="3670300"/>
                </a:lnTo>
                <a:lnTo>
                  <a:pt x="4805255" y="3657600"/>
                </a:lnTo>
                <a:lnTo>
                  <a:pt x="4821618" y="3644900"/>
                </a:lnTo>
                <a:lnTo>
                  <a:pt x="4839791" y="3632200"/>
                </a:lnTo>
                <a:lnTo>
                  <a:pt x="4855083" y="3619500"/>
                </a:lnTo>
                <a:lnTo>
                  <a:pt x="4867814" y="3619500"/>
                </a:lnTo>
                <a:lnTo>
                  <a:pt x="4874799" y="3606800"/>
                </a:lnTo>
                <a:lnTo>
                  <a:pt x="4906269" y="3606800"/>
                </a:lnTo>
                <a:lnTo>
                  <a:pt x="4965384" y="3581400"/>
                </a:lnTo>
                <a:lnTo>
                  <a:pt x="4987798" y="3568700"/>
                </a:lnTo>
                <a:lnTo>
                  <a:pt x="4990296" y="3556000"/>
                </a:lnTo>
                <a:lnTo>
                  <a:pt x="4996259" y="3556000"/>
                </a:lnTo>
                <a:lnTo>
                  <a:pt x="5005103" y="3543300"/>
                </a:lnTo>
                <a:lnTo>
                  <a:pt x="5031486" y="3543300"/>
                </a:lnTo>
                <a:lnTo>
                  <a:pt x="5034661" y="3517900"/>
                </a:lnTo>
                <a:lnTo>
                  <a:pt x="5045783" y="3517900"/>
                </a:lnTo>
                <a:lnTo>
                  <a:pt x="5050488" y="3505200"/>
                </a:lnTo>
                <a:lnTo>
                  <a:pt x="5055788" y="3492500"/>
                </a:lnTo>
                <a:lnTo>
                  <a:pt x="5068697" y="3479800"/>
                </a:lnTo>
                <a:lnTo>
                  <a:pt x="5080537" y="3479800"/>
                </a:lnTo>
                <a:lnTo>
                  <a:pt x="5087699" y="3467100"/>
                </a:lnTo>
                <a:lnTo>
                  <a:pt x="5092789" y="3467100"/>
                </a:lnTo>
                <a:lnTo>
                  <a:pt x="5098415" y="3454400"/>
                </a:lnTo>
                <a:lnTo>
                  <a:pt x="5115073" y="3441700"/>
                </a:lnTo>
                <a:lnTo>
                  <a:pt x="5130815" y="3416300"/>
                </a:lnTo>
                <a:lnTo>
                  <a:pt x="5142581" y="3390900"/>
                </a:lnTo>
                <a:lnTo>
                  <a:pt x="5147310" y="3365500"/>
                </a:lnTo>
                <a:lnTo>
                  <a:pt x="5154437" y="3327400"/>
                </a:lnTo>
                <a:lnTo>
                  <a:pt x="5180615" y="3289300"/>
                </a:lnTo>
                <a:lnTo>
                  <a:pt x="5207603" y="3251200"/>
                </a:lnTo>
                <a:lnTo>
                  <a:pt x="5217160" y="3225800"/>
                </a:lnTo>
                <a:lnTo>
                  <a:pt x="5220414" y="3213100"/>
                </a:lnTo>
                <a:lnTo>
                  <a:pt x="5224430" y="3200400"/>
                </a:lnTo>
                <a:lnTo>
                  <a:pt x="5229161" y="3200400"/>
                </a:lnTo>
                <a:lnTo>
                  <a:pt x="5234559" y="3187700"/>
                </a:lnTo>
                <a:lnTo>
                  <a:pt x="5259070" y="3175000"/>
                </a:lnTo>
                <a:lnTo>
                  <a:pt x="5284343" y="3162300"/>
                </a:lnTo>
                <a:lnTo>
                  <a:pt x="5289296" y="3162300"/>
                </a:lnTo>
                <a:lnTo>
                  <a:pt x="5295790" y="3149600"/>
                </a:lnTo>
                <a:lnTo>
                  <a:pt x="5301249" y="3136900"/>
                </a:lnTo>
                <a:lnTo>
                  <a:pt x="5306351" y="3111500"/>
                </a:lnTo>
                <a:lnTo>
                  <a:pt x="5311775" y="3111500"/>
                </a:lnTo>
                <a:lnTo>
                  <a:pt x="5322089" y="3086100"/>
                </a:lnTo>
                <a:lnTo>
                  <a:pt x="5323903" y="3060700"/>
                </a:lnTo>
                <a:lnTo>
                  <a:pt x="5325240" y="3048000"/>
                </a:lnTo>
                <a:lnTo>
                  <a:pt x="5334127" y="3035300"/>
                </a:lnTo>
                <a:lnTo>
                  <a:pt x="5349501" y="2997200"/>
                </a:lnTo>
                <a:lnTo>
                  <a:pt x="5355399" y="2971800"/>
                </a:lnTo>
                <a:lnTo>
                  <a:pt x="5368631" y="2946400"/>
                </a:lnTo>
                <a:lnTo>
                  <a:pt x="5406009" y="2933700"/>
                </a:lnTo>
                <a:lnTo>
                  <a:pt x="5428656" y="2882900"/>
                </a:lnTo>
                <a:lnTo>
                  <a:pt x="5451188" y="2832100"/>
                </a:lnTo>
                <a:lnTo>
                  <a:pt x="5474524" y="2794000"/>
                </a:lnTo>
                <a:lnTo>
                  <a:pt x="5499586" y="2743200"/>
                </a:lnTo>
                <a:lnTo>
                  <a:pt x="5527294" y="2705100"/>
                </a:lnTo>
                <a:lnTo>
                  <a:pt x="5547288" y="2654300"/>
                </a:lnTo>
                <a:lnTo>
                  <a:pt x="5554853" y="2641600"/>
                </a:lnTo>
                <a:lnTo>
                  <a:pt x="5563655" y="2616200"/>
                </a:lnTo>
                <a:lnTo>
                  <a:pt x="5587365" y="2565400"/>
                </a:lnTo>
                <a:lnTo>
                  <a:pt x="5604749" y="2527300"/>
                </a:lnTo>
                <a:lnTo>
                  <a:pt x="5619123" y="2514600"/>
                </a:lnTo>
                <a:lnTo>
                  <a:pt x="5633935" y="2501900"/>
                </a:lnTo>
                <a:lnTo>
                  <a:pt x="5652636" y="2489200"/>
                </a:lnTo>
                <a:lnTo>
                  <a:pt x="5678678" y="2438400"/>
                </a:lnTo>
                <a:lnTo>
                  <a:pt x="5679618" y="2413000"/>
                </a:lnTo>
                <a:lnTo>
                  <a:pt x="5686202" y="2362200"/>
                </a:lnTo>
                <a:lnTo>
                  <a:pt x="5693501" y="2311400"/>
                </a:lnTo>
                <a:lnTo>
                  <a:pt x="5696585" y="2286000"/>
                </a:lnTo>
                <a:lnTo>
                  <a:pt x="5708429" y="2260600"/>
                </a:lnTo>
                <a:lnTo>
                  <a:pt x="5723524" y="2235200"/>
                </a:lnTo>
                <a:lnTo>
                  <a:pt x="5739786" y="2209800"/>
                </a:lnTo>
                <a:lnTo>
                  <a:pt x="5755132" y="2184400"/>
                </a:lnTo>
                <a:lnTo>
                  <a:pt x="5810250" y="2120900"/>
                </a:lnTo>
                <a:lnTo>
                  <a:pt x="5824347" y="2044700"/>
                </a:lnTo>
                <a:lnTo>
                  <a:pt x="5844377" y="2019300"/>
                </a:lnTo>
                <a:lnTo>
                  <a:pt x="5899534" y="1968500"/>
                </a:lnTo>
                <a:lnTo>
                  <a:pt x="5918708" y="1955800"/>
                </a:lnTo>
                <a:lnTo>
                  <a:pt x="5923153" y="1943100"/>
                </a:lnTo>
                <a:lnTo>
                  <a:pt x="5927725" y="1943100"/>
                </a:lnTo>
                <a:lnTo>
                  <a:pt x="5929503" y="1930400"/>
                </a:lnTo>
                <a:lnTo>
                  <a:pt x="5931281" y="1930400"/>
                </a:lnTo>
                <a:lnTo>
                  <a:pt x="5939790" y="1905000"/>
                </a:lnTo>
                <a:lnTo>
                  <a:pt x="6041009" y="1790700"/>
                </a:lnTo>
                <a:lnTo>
                  <a:pt x="6080379" y="1714500"/>
                </a:lnTo>
                <a:lnTo>
                  <a:pt x="6096635" y="1651000"/>
                </a:lnTo>
                <a:lnTo>
                  <a:pt x="6104687" y="1638300"/>
                </a:lnTo>
                <a:lnTo>
                  <a:pt x="6113621" y="1625600"/>
                </a:lnTo>
                <a:lnTo>
                  <a:pt x="6121745" y="1612900"/>
                </a:lnTo>
                <a:lnTo>
                  <a:pt x="6127369" y="1587500"/>
                </a:lnTo>
                <a:lnTo>
                  <a:pt x="6127656" y="1549400"/>
                </a:lnTo>
                <a:lnTo>
                  <a:pt x="6135195" y="1524000"/>
                </a:lnTo>
                <a:lnTo>
                  <a:pt x="6144281" y="1485900"/>
                </a:lnTo>
                <a:lnTo>
                  <a:pt x="6150842" y="1435100"/>
                </a:lnTo>
                <a:lnTo>
                  <a:pt x="6155578" y="1409700"/>
                </a:lnTo>
                <a:lnTo>
                  <a:pt x="6161482" y="1384300"/>
                </a:lnTo>
                <a:lnTo>
                  <a:pt x="6166612" y="1358900"/>
                </a:lnTo>
                <a:lnTo>
                  <a:pt x="6196838" y="1346200"/>
                </a:lnTo>
                <a:lnTo>
                  <a:pt x="6195695" y="1333500"/>
                </a:lnTo>
                <a:lnTo>
                  <a:pt x="6194679" y="1320800"/>
                </a:lnTo>
                <a:lnTo>
                  <a:pt x="6193155" y="1320800"/>
                </a:lnTo>
                <a:lnTo>
                  <a:pt x="6190996" y="1308100"/>
                </a:lnTo>
                <a:lnTo>
                  <a:pt x="6190412" y="1308100"/>
                </a:lnTo>
                <a:lnTo>
                  <a:pt x="6190043" y="1295400"/>
                </a:lnTo>
                <a:lnTo>
                  <a:pt x="6188245" y="1282700"/>
                </a:lnTo>
                <a:lnTo>
                  <a:pt x="6183376" y="1282700"/>
                </a:lnTo>
                <a:lnTo>
                  <a:pt x="6179635" y="1270000"/>
                </a:lnTo>
                <a:lnTo>
                  <a:pt x="6181169" y="1257300"/>
                </a:lnTo>
                <a:lnTo>
                  <a:pt x="6182250" y="1244600"/>
                </a:lnTo>
                <a:lnTo>
                  <a:pt x="6177153" y="1231900"/>
                </a:lnTo>
                <a:lnTo>
                  <a:pt x="6179254" y="1231900"/>
                </a:lnTo>
                <a:lnTo>
                  <a:pt x="6180820" y="1219200"/>
                </a:lnTo>
                <a:lnTo>
                  <a:pt x="6181885" y="1219200"/>
                </a:lnTo>
                <a:lnTo>
                  <a:pt x="6182487" y="1206500"/>
                </a:lnTo>
                <a:lnTo>
                  <a:pt x="6161405" y="1143000"/>
                </a:lnTo>
                <a:lnTo>
                  <a:pt x="6166127" y="1104900"/>
                </a:lnTo>
                <a:lnTo>
                  <a:pt x="6157753" y="1079500"/>
                </a:lnTo>
                <a:lnTo>
                  <a:pt x="6147903" y="1054100"/>
                </a:lnTo>
                <a:lnTo>
                  <a:pt x="6148197" y="1016000"/>
                </a:lnTo>
                <a:lnTo>
                  <a:pt x="6151000" y="990600"/>
                </a:lnTo>
                <a:lnTo>
                  <a:pt x="6145841" y="977900"/>
                </a:lnTo>
                <a:lnTo>
                  <a:pt x="6140031" y="952500"/>
                </a:lnTo>
                <a:lnTo>
                  <a:pt x="6140877" y="939800"/>
                </a:lnTo>
                <a:lnTo>
                  <a:pt x="6155690" y="901700"/>
                </a:lnTo>
                <a:lnTo>
                  <a:pt x="6162357" y="876300"/>
                </a:lnTo>
                <a:lnTo>
                  <a:pt x="6164834" y="850900"/>
                </a:lnTo>
                <a:lnTo>
                  <a:pt x="6163119" y="812800"/>
                </a:lnTo>
                <a:lnTo>
                  <a:pt x="6157214" y="800100"/>
                </a:lnTo>
                <a:lnTo>
                  <a:pt x="6166739" y="723900"/>
                </a:lnTo>
                <a:lnTo>
                  <a:pt x="6163317" y="711200"/>
                </a:lnTo>
                <a:lnTo>
                  <a:pt x="6152419" y="698500"/>
                </a:lnTo>
                <a:lnTo>
                  <a:pt x="6141378" y="685800"/>
                </a:lnTo>
                <a:lnTo>
                  <a:pt x="6137529" y="673100"/>
                </a:lnTo>
                <a:lnTo>
                  <a:pt x="6139582" y="647700"/>
                </a:lnTo>
                <a:lnTo>
                  <a:pt x="6139291" y="635000"/>
                </a:lnTo>
                <a:lnTo>
                  <a:pt x="6135546" y="635000"/>
                </a:lnTo>
                <a:lnTo>
                  <a:pt x="6127242" y="622300"/>
                </a:lnTo>
                <a:lnTo>
                  <a:pt x="6128599" y="609600"/>
                </a:lnTo>
                <a:lnTo>
                  <a:pt x="6129718" y="609600"/>
                </a:lnTo>
                <a:lnTo>
                  <a:pt x="6130742" y="596900"/>
                </a:lnTo>
                <a:lnTo>
                  <a:pt x="6131814" y="596900"/>
                </a:lnTo>
                <a:lnTo>
                  <a:pt x="6127515" y="571500"/>
                </a:lnTo>
                <a:lnTo>
                  <a:pt x="6125527" y="558800"/>
                </a:lnTo>
                <a:lnTo>
                  <a:pt x="6126777" y="533400"/>
                </a:lnTo>
                <a:lnTo>
                  <a:pt x="6132195" y="520700"/>
                </a:lnTo>
                <a:lnTo>
                  <a:pt x="6132109" y="508000"/>
                </a:lnTo>
                <a:lnTo>
                  <a:pt x="6140561" y="482600"/>
                </a:lnTo>
                <a:lnTo>
                  <a:pt x="6152894" y="457200"/>
                </a:lnTo>
                <a:lnTo>
                  <a:pt x="6164453" y="419100"/>
                </a:lnTo>
                <a:lnTo>
                  <a:pt x="6172529" y="381000"/>
                </a:lnTo>
                <a:lnTo>
                  <a:pt x="6194012" y="330200"/>
                </a:lnTo>
                <a:lnTo>
                  <a:pt x="6215066" y="292100"/>
                </a:lnTo>
                <a:lnTo>
                  <a:pt x="6221857" y="241300"/>
                </a:lnTo>
                <a:lnTo>
                  <a:pt x="6222843" y="228600"/>
                </a:lnTo>
                <a:lnTo>
                  <a:pt x="6230889" y="203200"/>
                </a:lnTo>
                <a:lnTo>
                  <a:pt x="6240770" y="177800"/>
                </a:lnTo>
                <a:lnTo>
                  <a:pt x="6247257" y="152400"/>
                </a:lnTo>
                <a:lnTo>
                  <a:pt x="6244072" y="152400"/>
                </a:lnTo>
                <a:lnTo>
                  <a:pt x="6248638" y="139700"/>
                </a:lnTo>
                <a:lnTo>
                  <a:pt x="6257561" y="127000"/>
                </a:lnTo>
                <a:lnTo>
                  <a:pt x="6267450" y="114300"/>
                </a:lnTo>
                <a:lnTo>
                  <a:pt x="6263132" y="0"/>
                </a:lnTo>
                <a:close/>
              </a:path>
              <a:path w="6267450" h="5092700">
                <a:moveTo>
                  <a:pt x="708964" y="4953000"/>
                </a:moveTo>
                <a:lnTo>
                  <a:pt x="659456" y="4953000"/>
                </a:lnTo>
                <a:lnTo>
                  <a:pt x="675933" y="4965700"/>
                </a:lnTo>
                <a:lnTo>
                  <a:pt x="695070" y="4965700"/>
                </a:lnTo>
                <a:lnTo>
                  <a:pt x="708964" y="4953000"/>
                </a:lnTo>
                <a:close/>
              </a:path>
              <a:path w="6267450" h="5092700">
                <a:moveTo>
                  <a:pt x="203021" y="4889500"/>
                </a:moveTo>
                <a:lnTo>
                  <a:pt x="77468" y="4889500"/>
                </a:lnTo>
                <a:lnTo>
                  <a:pt x="99475" y="4902200"/>
                </a:lnTo>
                <a:lnTo>
                  <a:pt x="147190" y="4902200"/>
                </a:lnTo>
                <a:lnTo>
                  <a:pt x="203021" y="4889500"/>
                </a:lnTo>
                <a:close/>
              </a:path>
              <a:path w="6267450" h="5092700">
                <a:moveTo>
                  <a:pt x="4565078" y="3848100"/>
                </a:moveTo>
                <a:lnTo>
                  <a:pt x="4531614" y="3848100"/>
                </a:lnTo>
                <a:lnTo>
                  <a:pt x="4558371" y="3860800"/>
                </a:lnTo>
                <a:lnTo>
                  <a:pt x="4565078" y="3848100"/>
                </a:lnTo>
                <a:close/>
              </a:path>
              <a:path w="6267450" h="5092700">
                <a:moveTo>
                  <a:pt x="4906269" y="3606800"/>
                </a:moveTo>
                <a:lnTo>
                  <a:pt x="4874799" y="3606800"/>
                </a:lnTo>
                <a:lnTo>
                  <a:pt x="4883785" y="3619500"/>
                </a:lnTo>
                <a:lnTo>
                  <a:pt x="4906269" y="360680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E6EC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7695" y="1577340"/>
            <a:ext cx="528694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9258" y="1577340"/>
            <a:ext cx="5286946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F4C3-BD6B-4DC4-80A5-67FF70C04928}" type="datetime1">
              <a:rPr lang="en-US" smtClean="0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0E6EC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51A7CC-5529-471A-B238-3506E4F0CFAE}" type="datetime1">
              <a:rPr lang="en-US" smtClean="0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A6AA2-6BEC-477F-93C7-53EEFBDAFAFE}" type="datetime1">
              <a:rPr lang="en-US" smtClean="0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539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635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0E6EC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2165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32326" y="6377940"/>
            <a:ext cx="3889248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7695" y="6377940"/>
            <a:ext cx="279539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329B0-4094-4BF6-8014-18A6224E364C}" type="datetime1">
              <a:rPr lang="en-US" smtClean="0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0808" y="6377940"/>
            <a:ext cx="2795397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9050" y="1"/>
            <a:ext cx="121539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50695">
              <a:lnSpc>
                <a:spcPct val="100000"/>
              </a:lnSpc>
              <a:spcBef>
                <a:spcPts val="125"/>
              </a:spcBef>
            </a:pP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KONGU</a:t>
            </a:r>
            <a:r>
              <a:rPr sz="2750" spc="1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FF0000"/>
                </a:solidFill>
                <a:latin typeface="Times New Roman"/>
                <a:cs typeface="Times New Roman"/>
              </a:rPr>
              <a:t>ENGINEERING</a:t>
            </a:r>
            <a:r>
              <a:rPr sz="2750" spc="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Times New Roman"/>
                <a:cs typeface="Times New Roman"/>
              </a:rPr>
              <a:t>COLLEGE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133156" y="1126807"/>
            <a:ext cx="10811193" cy="1829924"/>
          </a:xfrm>
          <a:prstGeom prst="rect">
            <a:avLst/>
          </a:prstGeom>
        </p:spPr>
        <p:txBody>
          <a:bodyPr vert="horz" wrap="square" lIns="0" tIns="593026" rIns="0" bIns="0" rtlCol="0" anchor="t">
            <a:spAutoFit/>
          </a:bodyPr>
          <a:lstStyle/>
          <a:p>
            <a:pPr marL="1148080">
              <a:spcBef>
                <a:spcPts val="130"/>
              </a:spcBef>
            </a:pPr>
            <a:r>
              <a:rPr lang="en-IN" sz="4000" dirty="0">
                <a:solidFill>
                  <a:schemeClr val="accent1"/>
                </a:solidFill>
              </a:rPr>
              <a:t>An Intelligent IoT-Based Pressure Monitoring System for Spinal Orthosis</a:t>
            </a:r>
            <a:endParaRPr lang="en-US" sz="3950" dirty="0">
              <a:solidFill>
                <a:schemeClr val="accent1"/>
              </a:solidFill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447924" cy="9429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61739" y="4067873"/>
            <a:ext cx="8130285" cy="23580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6405" indent="-286385">
              <a:lnSpc>
                <a:spcPct val="100000"/>
              </a:lnSpc>
              <a:spcBef>
                <a:spcPts val="100"/>
              </a:spcBef>
              <a:buChar char="-"/>
              <a:tabLst>
                <a:tab pos="4256405" algn="l"/>
              </a:tabLst>
            </a:pPr>
            <a:r>
              <a:rPr sz="1800" dirty="0">
                <a:latin typeface="Arial MT"/>
                <a:cs typeface="Arial MT"/>
              </a:rPr>
              <a:t>GOBINATH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(23ECR062)</a:t>
            </a:r>
            <a:endParaRPr sz="1800" dirty="0">
              <a:latin typeface="Arial MT"/>
              <a:cs typeface="Arial MT"/>
            </a:endParaRPr>
          </a:p>
          <a:p>
            <a:pPr marL="4256405" indent="-286385">
              <a:lnSpc>
                <a:spcPct val="100000"/>
              </a:lnSpc>
              <a:spcBef>
                <a:spcPts val="20"/>
              </a:spcBef>
              <a:buChar char="-"/>
              <a:tabLst>
                <a:tab pos="4256405" algn="l"/>
              </a:tabLst>
            </a:pPr>
            <a:r>
              <a:rPr sz="1800" dirty="0">
                <a:latin typeface="Arial MT"/>
                <a:cs typeface="Arial MT"/>
              </a:rPr>
              <a:t>HARIHARAN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 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(23ECR069)</a:t>
            </a:r>
            <a:endParaRPr sz="1800" dirty="0">
              <a:latin typeface="Arial MT"/>
              <a:cs typeface="Arial MT"/>
            </a:endParaRPr>
          </a:p>
          <a:p>
            <a:pPr marL="4256405" indent="-286385">
              <a:lnSpc>
                <a:spcPct val="100000"/>
              </a:lnSpc>
              <a:spcBef>
                <a:spcPts val="15"/>
              </a:spcBef>
              <a:buChar char="-"/>
              <a:tabLst>
                <a:tab pos="4256405" algn="l"/>
              </a:tabLst>
            </a:pPr>
            <a:r>
              <a:rPr sz="1800" dirty="0">
                <a:latin typeface="Arial MT"/>
                <a:cs typeface="Arial MT"/>
              </a:rPr>
              <a:t>KAVIYARASU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 </a:t>
            </a:r>
            <a:r>
              <a:rPr sz="1800" spc="-10" dirty="0">
                <a:latin typeface="Arial MT"/>
                <a:cs typeface="Arial MT"/>
              </a:rPr>
              <a:t>(23ECR105)</a:t>
            </a:r>
            <a:endParaRPr sz="1800" dirty="0">
              <a:latin typeface="Arial MT"/>
              <a:cs typeface="Arial MT"/>
            </a:endParaRPr>
          </a:p>
          <a:p>
            <a:pPr marL="4256405" indent="-286385">
              <a:lnSpc>
                <a:spcPct val="100000"/>
              </a:lnSpc>
              <a:spcBef>
                <a:spcPts val="20"/>
              </a:spcBef>
              <a:buChar char="-"/>
              <a:tabLst>
                <a:tab pos="4256405" algn="l"/>
              </a:tabLst>
            </a:pPr>
            <a:r>
              <a:rPr sz="1800" dirty="0">
                <a:latin typeface="Arial MT"/>
                <a:cs typeface="Arial MT"/>
              </a:rPr>
              <a:t>KIRUBAGARAN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(23ECR110)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800" dirty="0">
              <a:latin typeface="Arial MT"/>
              <a:cs typeface="Arial MT"/>
            </a:endParaRPr>
          </a:p>
          <a:p>
            <a:pPr marL="12700" marR="3366135">
              <a:lnSpc>
                <a:spcPct val="100800"/>
              </a:lnSpc>
            </a:pPr>
            <a:r>
              <a:rPr sz="1800" dirty="0">
                <a:latin typeface="Arial MT"/>
                <a:cs typeface="Arial MT"/>
              </a:rPr>
              <a:t>Guided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 -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Sivaranjani</a:t>
            </a:r>
            <a:r>
              <a:rPr sz="1800" spc="-30" dirty="0">
                <a:latin typeface="Arial MT"/>
                <a:cs typeface="Arial MT"/>
              </a:rPr>
              <a:t> </a:t>
            </a:r>
            <a:endParaRPr lang="en-IN" spc="-10" dirty="0">
              <a:latin typeface="Arial MT"/>
              <a:cs typeface="Arial MT"/>
            </a:endParaRPr>
          </a:p>
          <a:p>
            <a:pPr marL="12700" marR="3366135">
              <a:lnSpc>
                <a:spcPct val="100800"/>
              </a:lnSpc>
            </a:pPr>
            <a:r>
              <a:rPr lang="en-IN" spc="-10" dirty="0" err="1">
                <a:latin typeface="Arial MT"/>
                <a:cs typeface="Arial MT"/>
              </a:rPr>
              <a:t>Professor,ECE,Kongu</a:t>
            </a:r>
            <a:r>
              <a:rPr lang="en-IN" spc="-10" dirty="0">
                <a:latin typeface="Arial MT"/>
                <a:cs typeface="Arial MT"/>
              </a:rPr>
              <a:t> Engineering College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0663E8-B764-E2A7-2A0F-0251C203C282}"/>
              </a:ext>
            </a:extLst>
          </p:cNvPr>
          <p:cNvSpPr txBox="1"/>
          <p:nvPr/>
        </p:nvSpPr>
        <p:spPr>
          <a:xfrm>
            <a:off x="4705350" y="3048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DOMAIN</a:t>
            </a:r>
            <a:r>
              <a:rPr lang="en-US" dirty="0"/>
              <a:t> : EMBEDDED SYSTEMS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4B151-6719-8027-DA21-12F084BFBCDC}"/>
              </a:ext>
            </a:extLst>
          </p:cNvPr>
          <p:cNvSpPr txBox="1"/>
          <p:nvPr/>
        </p:nvSpPr>
        <p:spPr>
          <a:xfrm>
            <a:off x="238124" y="6364724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23-06-2026</a:t>
            </a:r>
            <a:endParaRPr lang="en-IN" b="1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BAB8057-C63C-B8E9-C6DF-79290D519F4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FB206-1329-BB52-97D6-F4DCF8CC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F0CA7-62B5-4D3F-69D1-86030062C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4616648"/>
          </a:xfrm>
        </p:spPr>
        <p:txBody>
          <a:bodyPr/>
          <a:lstStyle/>
          <a:p>
            <a:r>
              <a:rPr lang="en-IN" b="1" dirty="0"/>
              <a:t>What are Spinal Disorders?</a:t>
            </a:r>
          </a:p>
          <a:p>
            <a:r>
              <a:rPr lang="en-IN" dirty="0"/>
              <a:t>Spinal disorders are conditions that affect the normal alignment of the spine, leading to pain, poor posture, and reduced mobility.</a:t>
            </a:r>
          </a:p>
          <a:p>
            <a:endParaRPr lang="en-IN" dirty="0"/>
          </a:p>
          <a:p>
            <a:r>
              <a:rPr lang="en-IN" b="1" dirty="0"/>
              <a:t>Common Types</a:t>
            </a:r>
          </a:p>
          <a:p>
            <a:r>
              <a:rPr lang="en-IN" b="1" dirty="0"/>
              <a:t>Scoliosis</a:t>
            </a:r>
            <a:r>
              <a:rPr lang="en-IN" dirty="0"/>
              <a:t> – Sideways curvature of the spine</a:t>
            </a:r>
          </a:p>
          <a:p>
            <a:r>
              <a:rPr lang="en-IN" b="1" dirty="0"/>
              <a:t>Kyphosis</a:t>
            </a:r>
            <a:r>
              <a:rPr lang="en-IN" dirty="0"/>
              <a:t> – Excessive outward curvature (hunchback)</a:t>
            </a:r>
          </a:p>
          <a:p>
            <a:r>
              <a:rPr lang="en-IN" b="1" dirty="0"/>
              <a:t>Lordosis</a:t>
            </a:r>
            <a:r>
              <a:rPr lang="en-IN" dirty="0"/>
              <a:t> – Excessive inward curvature of the lower back</a:t>
            </a:r>
          </a:p>
          <a:p>
            <a:endParaRPr lang="en-IN" dirty="0"/>
          </a:p>
          <a:p>
            <a:r>
              <a:rPr lang="en-IN" b="1" dirty="0"/>
              <a:t>Challenges</a:t>
            </a:r>
          </a:p>
          <a:p>
            <a:r>
              <a:rPr lang="en-IN" dirty="0"/>
              <a:t>Persistent back pain</a:t>
            </a:r>
          </a:p>
          <a:p>
            <a:r>
              <a:rPr lang="en-IN" dirty="0"/>
              <a:t>Poor posture and imbalance</a:t>
            </a:r>
          </a:p>
          <a:p>
            <a:r>
              <a:rPr lang="en-IN" dirty="0"/>
              <a:t>Difficulty in daily activities</a:t>
            </a:r>
          </a:p>
          <a:p>
            <a:r>
              <a:rPr lang="en-IN" dirty="0"/>
              <a:t>Progression of spinal deformities if left untreated</a:t>
            </a:r>
          </a:p>
          <a:p>
            <a:endParaRPr lang="en-IN" dirty="0"/>
          </a:p>
        </p:txBody>
      </p:sp>
      <p:pic>
        <p:nvPicPr>
          <p:cNvPr id="4" name="Picture 3" descr="Scoliosis Definition - Scoliosis Care Centers">
            <a:extLst>
              <a:ext uri="{FF2B5EF4-FFF2-40B4-BE49-F238E27FC236}">
                <a16:creationId xmlns:a16="http://schemas.microsoft.com/office/drawing/2014/main" id="{430D298A-FB49-25EB-2ECA-5DAE6E516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793" y="1981200"/>
            <a:ext cx="1762125" cy="1762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3098F2-1525-DBC4-8110-7B6A6F6B9ED0}"/>
              </a:ext>
            </a:extLst>
          </p:cNvPr>
          <p:cNvSpPr txBox="1"/>
          <p:nvPr/>
        </p:nvSpPr>
        <p:spPr>
          <a:xfrm>
            <a:off x="7505253" y="3743325"/>
            <a:ext cx="1701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scoliosis</a:t>
            </a:r>
          </a:p>
        </p:txBody>
      </p:sp>
      <p:pic>
        <p:nvPicPr>
          <p:cNvPr id="6" name="Picture 5" descr="Kyphosis Symptoms, Causes &amp; Non-Surgical Treatment | QI Spine">
            <a:extLst>
              <a:ext uri="{FF2B5EF4-FFF2-40B4-BE49-F238E27FC236}">
                <a16:creationId xmlns:a16="http://schemas.microsoft.com/office/drawing/2014/main" id="{7019A62B-BC32-60B6-5A38-3FBA08EEF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235" y="1981199"/>
            <a:ext cx="3105150" cy="1762125"/>
          </a:xfrm>
          <a:prstGeom prst="rect">
            <a:avLst/>
          </a:prstGeom>
        </p:spPr>
      </p:pic>
      <p:pic>
        <p:nvPicPr>
          <p:cNvPr id="8" name="Picture 7" descr="Healing Lordosis Through Bodywork Therapy | Bodywork Masters">
            <a:extLst>
              <a:ext uri="{FF2B5EF4-FFF2-40B4-BE49-F238E27FC236}">
                <a16:creationId xmlns:a16="http://schemas.microsoft.com/office/drawing/2014/main" id="{61363383-9F9D-A373-D3F5-6001FCC29A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308" t="16442" r="1"/>
          <a:stretch>
            <a:fillRect/>
          </a:stretch>
        </p:blipFill>
        <p:spPr>
          <a:xfrm>
            <a:off x="8588599" y="3942743"/>
            <a:ext cx="1863205" cy="22941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97B4CD-F25C-16FC-D9E0-102CD8A7EA52}"/>
              </a:ext>
            </a:extLst>
          </p:cNvPr>
          <p:cNvSpPr txBox="1"/>
          <p:nvPr/>
        </p:nvSpPr>
        <p:spPr>
          <a:xfrm>
            <a:off x="10159484" y="3738412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Kyphosis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58FCCA-3279-0A76-D9B4-D0008BF0D6C7}"/>
              </a:ext>
            </a:extLst>
          </p:cNvPr>
          <p:cNvSpPr txBox="1"/>
          <p:nvPr/>
        </p:nvSpPr>
        <p:spPr>
          <a:xfrm>
            <a:off x="9028676" y="6052187"/>
            <a:ext cx="180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Lordosis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D4005B-692F-A4AA-7771-C2281206E68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071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75EDA-08F7-091D-CF72-DCD16189C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IN" dirty="0"/>
              <a:t>EXISTING 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F4585-FC2B-9BDE-52DA-B1BF4AF83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6543993" cy="5539978"/>
          </a:xfrm>
        </p:spPr>
        <p:txBody>
          <a:bodyPr/>
          <a:lstStyle/>
          <a:p>
            <a:r>
              <a:rPr lang="en-IN" b="1" dirty="0"/>
              <a:t>What is a Spinal Orthosis?</a:t>
            </a:r>
          </a:p>
          <a:p>
            <a:r>
              <a:rPr lang="en-IN" dirty="0"/>
              <a:t>A spinal orthosis (back brace) is a medical device used to support and correct abnormal spinal curvature by applying controlled pressure to specific areas of the spine.</a:t>
            </a:r>
          </a:p>
          <a:p>
            <a:endParaRPr lang="en-IN" dirty="0"/>
          </a:p>
          <a:p>
            <a:r>
              <a:rPr lang="en-IN" b="1" dirty="0"/>
              <a:t>Current Treatment Method</a:t>
            </a:r>
          </a:p>
          <a:p>
            <a:r>
              <a:rPr lang="en-IN" dirty="0"/>
              <a:t>Orthosis is custom-fitted for each patient.</a:t>
            </a:r>
          </a:p>
          <a:p>
            <a:r>
              <a:rPr lang="en-IN" dirty="0"/>
              <a:t>Clinicians manually adjust the brace based on patient feedback and experience.</a:t>
            </a:r>
          </a:p>
          <a:p>
            <a:r>
              <a:rPr lang="en-IN" dirty="0"/>
              <a:t>Patients wear the brace for several hours each day to gradually improve spinal alignment.</a:t>
            </a:r>
          </a:p>
          <a:p>
            <a:endParaRPr lang="en-IN" dirty="0"/>
          </a:p>
          <a:p>
            <a:r>
              <a:rPr lang="en-IN" b="1" dirty="0"/>
              <a:t>Limitation</a:t>
            </a:r>
          </a:p>
          <a:p>
            <a:r>
              <a:rPr lang="en-IN" dirty="0"/>
              <a:t>Current braces </a:t>
            </a:r>
            <a:r>
              <a:rPr lang="en-IN" b="1" dirty="0"/>
              <a:t>cannot continuously measure the applied pressure</a:t>
            </a:r>
            <a:r>
              <a:rPr lang="en-IN" dirty="0"/>
              <a:t>, making it difficult to ensure the correct corrective force, which may lead to discomfort, poor fitting, and reduced treatment effectiveness.</a:t>
            </a:r>
          </a:p>
          <a:p>
            <a:endParaRPr lang="en-IN" dirty="0"/>
          </a:p>
        </p:txBody>
      </p:sp>
      <p:pic>
        <p:nvPicPr>
          <p:cNvPr id="5" name="Picture 4" descr="SP500 SpinAir Back Orthosis — Trulife">
            <a:extLst>
              <a:ext uri="{FF2B5EF4-FFF2-40B4-BE49-F238E27FC236}">
                <a16:creationId xmlns:a16="http://schemas.microsoft.com/office/drawing/2014/main" id="{D6736C3E-9F41-3FED-C979-93E57E8F5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1550" y="723347"/>
            <a:ext cx="2888288" cy="5147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73372A-1DF3-00C2-4706-3805D85986E3}"/>
              </a:ext>
            </a:extLst>
          </p:cNvPr>
          <p:cNvSpPr txBox="1"/>
          <p:nvPr/>
        </p:nvSpPr>
        <p:spPr>
          <a:xfrm>
            <a:off x="9201150" y="5762863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Spinal Orthosis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22E2DD-51C0-BC3C-8092-DA9A2CEA49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5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F42C-705D-39D7-D516-2CCC7716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045" y="227524"/>
            <a:ext cx="3314447" cy="49244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0CFB43-83F3-CFC3-3922-343A64BB22B8}"/>
              </a:ext>
            </a:extLst>
          </p:cNvPr>
          <p:cNvGraphicFramePr>
            <a:graphicFrameLocks noGrp="1"/>
          </p:cNvGraphicFramePr>
          <p:nvPr/>
        </p:nvGraphicFramePr>
        <p:xfrm>
          <a:off x="1133475" y="2026920"/>
          <a:ext cx="10161588" cy="365760"/>
        </p:xfrm>
        <a:graphic>
          <a:graphicData uri="http://schemas.openxmlformats.org/drawingml/2006/table">
            <a:tbl>
              <a:tblPr/>
              <a:tblGrid>
                <a:gridCol w="10161588">
                  <a:extLst>
                    <a:ext uri="{9D8B030D-6E8A-4147-A177-3AD203B41FA5}">
                      <a16:colId xmlns:a16="http://schemas.microsoft.com/office/drawing/2014/main" val="3580721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68153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6AC5A9-62A2-9208-DDD2-8B219BF487A1}"/>
              </a:ext>
            </a:extLst>
          </p:cNvPr>
          <p:cNvGraphicFramePr>
            <a:graphicFrameLocks noGrp="1"/>
          </p:cNvGraphicFramePr>
          <p:nvPr/>
        </p:nvGraphicFramePr>
        <p:xfrm>
          <a:off x="1133475" y="2026920"/>
          <a:ext cx="10161588" cy="365760"/>
        </p:xfrm>
        <a:graphic>
          <a:graphicData uri="http://schemas.openxmlformats.org/drawingml/2006/table">
            <a:tbl>
              <a:tblPr/>
              <a:tblGrid>
                <a:gridCol w="10161588">
                  <a:extLst>
                    <a:ext uri="{9D8B030D-6E8A-4147-A177-3AD203B41FA5}">
                      <a16:colId xmlns:a16="http://schemas.microsoft.com/office/drawing/2014/main" val="10563207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25864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1349862-804C-0A15-3AC0-3B8A97DED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952278"/>
              </p:ext>
            </p:extLst>
          </p:nvPr>
        </p:nvGraphicFramePr>
        <p:xfrm>
          <a:off x="742950" y="719967"/>
          <a:ext cx="11179970" cy="598637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10044665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2964673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368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0166275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856805605"/>
                    </a:ext>
                  </a:extLst>
                </a:gridCol>
                <a:gridCol w="4550570">
                  <a:extLst>
                    <a:ext uri="{9D8B030D-6E8A-4147-A177-3AD203B41FA5}">
                      <a16:colId xmlns:a16="http://schemas.microsoft.com/office/drawing/2014/main" val="607149898"/>
                    </a:ext>
                  </a:extLst>
                </a:gridCol>
              </a:tblGrid>
              <a:tr h="379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 err="1"/>
                        <a:t>S.No</a:t>
                      </a:r>
                      <a:endParaRPr lang="en-IN" sz="1800" b="1" dirty="0"/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Title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Author(s)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Journal / Conference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Year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Remarks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604055"/>
                  </a:ext>
                </a:extLst>
              </a:tr>
              <a:tr h="11802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1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Pressure Sensor System for Customized Scoliosis Braces 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M. M. Fuss, et al.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/>
                        <a:t>Sensors (MDPI)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/>
                        <a:t>2021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/>
                        <a:t>Base paper. Introduces a pressure sensor system for spinal braces. this work extends it with AI, IoT, and real-time monitoring.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233518"/>
                  </a:ext>
                </a:extLst>
              </a:tr>
              <a:tr h="1107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2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Applied Research on Pressure Distribution Detection Technology of Spinal Orthosis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Y. Zhang et al.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IEEE International Conference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0" dirty="0"/>
                        <a:t>2023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/>
                        <a:t>Proposes pressure distribution measurement in spinal orthoses. Used as the primary IEEE reference.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834155"/>
                  </a:ext>
                </a:extLst>
              </a:tr>
              <a:tr h="1066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3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A Wearable Sensor Array for Real-Time Spine Posture Monitoring During Exercise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J. Kim et al.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/>
                        <a:t>IEEE Transactions on Biomedical Engineering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2023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/>
                        <a:t>Demonstrates wearable sensing for spine posture monitoring; supports sensor placement and wearable design.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640042"/>
                  </a:ext>
                </a:extLst>
              </a:tr>
              <a:tr h="10660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4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Integrated Pressure Sensor and </a:t>
                      </a:r>
                      <a:r>
                        <a:rPr lang="en-IN" sz="1800" b="0" dirty="0" err="1"/>
                        <a:t>sEMG</a:t>
                      </a:r>
                      <a:r>
                        <a:rPr lang="en-IN" sz="1800" b="0" dirty="0"/>
                        <a:t> Array for Scoliosis Monitoring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H. Liu et al.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/>
                        <a:t>IEEE Conference Proceedings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/>
                        <a:t>2024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/>
                        <a:t>Combines pressure sensing with physiological monitoring. Inspires future expansion of the proposed system.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389974"/>
                  </a:ext>
                </a:extLst>
              </a:tr>
              <a:tr h="9518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dirty="0"/>
                        <a:t>5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Flexible Wearable Sensors for Spinal Orthosis Monitoring: A Review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/>
                        <a:t>S. Wang et al.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IEEE Access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0" dirty="0"/>
                        <a:t>2025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800" dirty="0"/>
                        <a:t>Reviews recent wearable sensor technologies and highlights research gaps addressed by </a:t>
                      </a:r>
                      <a:r>
                        <a:rPr lang="en-IN" sz="1800" dirty="0" err="1"/>
                        <a:t>Spinobar</a:t>
                      </a:r>
                      <a:r>
                        <a:rPr lang="en-IN" sz="1800" dirty="0"/>
                        <a:t>.</a:t>
                      </a:r>
                    </a:p>
                  </a:txBody>
                  <a:tcPr marL="15037" marR="15037" marT="7519" marB="75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01511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3CC76-B61E-F712-BF6A-DC1FA0A22D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05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E95C-1690-BF2F-7044-B6DFC5FF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IN" dirty="0"/>
              <a:t>Base Paper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FA6E00-F555-063A-13B7-BD17A65338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1"/>
          <a:stretch>
            <a:fillRect/>
          </a:stretch>
        </p:blipFill>
        <p:spPr>
          <a:xfrm>
            <a:off x="7554854" y="1066800"/>
            <a:ext cx="4599046" cy="29102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D72E5-E143-3C88-25D9-2D5DC5572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7750" y="1143000"/>
            <a:ext cx="6696393" cy="5232202"/>
          </a:xfrm>
        </p:spPr>
        <p:txBody>
          <a:bodyPr/>
          <a:lstStyle/>
          <a:p>
            <a:r>
              <a:rPr lang="en-IN" b="1" dirty="0"/>
              <a:t>Pressure Sensor System for Customized Scoliosis Braces</a:t>
            </a:r>
            <a:br>
              <a:rPr lang="en-IN" dirty="0"/>
            </a:br>
            <a:r>
              <a:rPr lang="en-IN" i="1" dirty="0"/>
              <a:t>Sensors (MDPI), 2021</a:t>
            </a:r>
            <a:endParaRPr lang="en-IN" dirty="0"/>
          </a:p>
          <a:p>
            <a:r>
              <a:rPr lang="en-IN" b="1" dirty="0"/>
              <a:t>Existing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Flexible piezoresistive pressure sensors are embedded inside a scoliosis brace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Measures the pressure applied between the brace and the patient's body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Provides real-time pressure readings during brace usage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Helps clinicians evaluate whether the corrective force is within the desired range</a:t>
            </a:r>
          </a:p>
          <a:p>
            <a:r>
              <a:rPr lang="en-IN" b="1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 Artificial Intelligence for pressure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 prediction of improper brace fitting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 wireless/mobile application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No patient history or long-term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Limited assistance for clinicians in decision-making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9992B2-17D9-696B-2249-5A0E7F412036}"/>
              </a:ext>
            </a:extLst>
          </p:cNvPr>
          <p:cNvSpPr txBox="1"/>
          <p:nvPr/>
        </p:nvSpPr>
        <p:spPr>
          <a:xfrm>
            <a:off x="8025577" y="4133391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Reference image from base paper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186643A-B236-1F98-A79F-CDFB31138E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747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64CA-CE7F-EC59-604C-B131BD63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3362"/>
            <a:ext cx="12249151" cy="492443"/>
          </a:xfrm>
        </p:spPr>
        <p:txBody>
          <a:bodyPr/>
          <a:lstStyle/>
          <a:p>
            <a:pPr algn="ctr"/>
            <a:r>
              <a:rPr lang="en-US" dirty="0"/>
              <a:t>SCOLIOSIS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2893B-82D1-A467-AA1A-59B0F64D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4308872"/>
          </a:xfrm>
        </p:spPr>
        <p:txBody>
          <a:bodyPr/>
          <a:lstStyle/>
          <a:p>
            <a:r>
              <a:rPr lang="en-IN" b="1" dirty="0"/>
              <a:t>What is Scoliosis?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 condition in which the spine curves sideways into a </a:t>
            </a:r>
            <a:r>
              <a:rPr lang="en-IN" b="1" dirty="0"/>
              <a:t>'C' or 'S' shape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Most commonly occurs in adolescents between </a:t>
            </a:r>
            <a:r>
              <a:rPr lang="en-IN" b="1" dirty="0"/>
              <a:t>10–18 years of age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If left untreated, the spinal curvature may worsen over time, causing pain, poor posture, and breathing difficulties</a:t>
            </a:r>
          </a:p>
          <a:p>
            <a:endParaRPr lang="en-IN" dirty="0"/>
          </a:p>
          <a:p>
            <a:r>
              <a:rPr lang="en-IN" b="1" dirty="0"/>
              <a:t>Current Treatment:</a:t>
            </a:r>
          </a:p>
          <a:p>
            <a:r>
              <a:rPr lang="en-IN" b="1" dirty="0"/>
              <a:t>Thoraco-Lumbo-Sacral Orthosis (TLSO)</a:t>
            </a:r>
            <a:r>
              <a:rPr lang="en-IN" dirty="0"/>
              <a:t>, commonly known as the </a:t>
            </a:r>
            <a:r>
              <a:rPr lang="en-IN" b="1" dirty="0"/>
              <a:t>Boston Brace</a:t>
            </a:r>
            <a:r>
              <a:rPr lang="en-IN" dirty="0"/>
              <a:t>, is widely used.</a:t>
            </a:r>
          </a:p>
          <a:p>
            <a:r>
              <a:rPr lang="en-IN" dirty="0"/>
              <a:t>The brace applies corrective pressure to specific regions of the spine.</a:t>
            </a:r>
          </a:p>
          <a:p>
            <a:r>
              <a:rPr lang="en-IN" dirty="0"/>
              <a:t>Patients are typically required to wear the brace for </a:t>
            </a:r>
            <a:r>
              <a:rPr lang="en-IN" b="1" dirty="0"/>
              <a:t>16–23 hours per day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Project Focus:</a:t>
            </a:r>
          </a:p>
          <a:p>
            <a:r>
              <a:rPr lang="en-IN" dirty="0"/>
              <a:t>Develop an AI-assisted smart pressure monitoring system for scoliosis braces to improve brace fitting, patient comfort, and rehabilitation outcomes.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6DBD1-A0C7-501B-65B8-42B0D12BD90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16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9013-4740-1686-1520-61CB7F7B8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IN" dirty="0"/>
              <a:t>Solution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1910C-A120-B805-C385-D5D29789C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5539978"/>
          </a:xfrm>
        </p:spPr>
        <p:txBody>
          <a:bodyPr/>
          <a:lstStyle/>
          <a:p>
            <a:r>
              <a:rPr lang="en-IN" b="1" dirty="0" err="1"/>
              <a:t>Spinobar</a:t>
            </a:r>
            <a:r>
              <a:rPr lang="en-IN" b="1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An intelligent spinal orthosis pressure monitoring system that enhances the existing pressure sensing approach using AI and IoT technologies</a:t>
            </a:r>
          </a:p>
          <a:p>
            <a:pPr algn="l"/>
            <a:endParaRPr lang="en-IN" dirty="0"/>
          </a:p>
          <a:p>
            <a:pPr algn="l"/>
            <a:r>
              <a:rPr lang="en-IN" b="1" dirty="0"/>
              <a:t>Proposed Features: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Real-time pressure monitoring using flexible sensor array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Bluetooth-enabled communication with a mobile application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AI-based prediction of improper brace fitting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Pressure heatmap for easy visualization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Personalized brace adjustment recommendations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Cloud-based patient history and rehabilitation tracking</a:t>
            </a:r>
          </a:p>
          <a:p>
            <a:pPr algn="l"/>
            <a:endParaRPr lang="en-IN" dirty="0"/>
          </a:p>
          <a:p>
            <a:pPr algn="l"/>
            <a:r>
              <a:rPr lang="en-IN" b="1" dirty="0"/>
              <a:t>Advantages: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Improves fitting accuracy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Enhances patient comfort and safety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Assists clinicians in making faster decisions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dirty="0"/>
              <a:t>Low-cost, portable, and suitable for routine clinical use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45C03-18E5-72B4-5C63-253D5B1B9A3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52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6F912-6844-47AD-3216-C65F93F0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US" dirty="0"/>
              <a:t>AI Models Proposed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980A7D-C59E-ACD8-B42C-1D41F5200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3950" y="963930"/>
            <a:ext cx="10161270" cy="5909310"/>
          </a:xfrm>
        </p:spPr>
        <p:txBody>
          <a:bodyPr/>
          <a:lstStyle/>
          <a:p>
            <a:r>
              <a:rPr lang="en-IN" sz="2800" b="1" dirty="0"/>
              <a:t>1D Convolutional Neural Network (1D-CNN):</a:t>
            </a:r>
          </a:p>
          <a:p>
            <a:endParaRPr lang="en-IN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Processes pressure sensor data from the spinal orthosis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Automatically extracts important pressure distribution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Detects high-pressure and low-pressure regions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Reduces noise and improves feature quality</a:t>
            </a:r>
          </a:p>
          <a:p>
            <a:endParaRPr lang="en-IN" sz="2800" dirty="0"/>
          </a:p>
          <a:p>
            <a:r>
              <a:rPr lang="en-IN" sz="2800" b="1" dirty="0"/>
              <a:t>Long Short-Term Memory (LSTM)</a:t>
            </a:r>
          </a:p>
          <a:p>
            <a:endParaRPr lang="en-IN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 err="1"/>
              <a:t>Analyzes</a:t>
            </a:r>
            <a:r>
              <a:rPr lang="en-IN" sz="2800" dirty="0"/>
              <a:t> pressure data over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Learns pressure variations during sitting, standing, walking, and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Identifies abnormal pressure changes and posture-related patterns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594E0-B0B0-C334-5226-730171DA60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6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51" y="233362"/>
            <a:ext cx="8827134" cy="338554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F5C8B"/>
                </a:solidFill>
              </a:rPr>
              <a:t>Block Diagram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6373368"/>
            <a:ext cx="279806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06060"/>
                </a:solidFill>
              </a:rPr>
              <a:t>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C397729-80FB-F953-1FE2-291ABF94F1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629429"/>
            <a:ext cx="10360406" cy="57134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5CB7-5DA0-E586-1DBA-F69D799F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r>
              <a:rPr lang="en-US" dirty="0"/>
              <a:t>Hardware and Software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0F057-7F81-2722-1A85-3996A93A2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3693319"/>
          </a:xfrm>
        </p:spPr>
        <p:txBody>
          <a:bodyPr/>
          <a:lstStyle/>
          <a:p>
            <a:r>
              <a:rPr lang="en-US" b="1" dirty="0"/>
              <a:t>Hardware:</a:t>
            </a:r>
          </a:p>
          <a:p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Pressure Sensor(FSR/</a:t>
            </a:r>
            <a:r>
              <a:rPr lang="en-US" dirty="0" err="1"/>
              <a:t>Velostat</a:t>
            </a:r>
            <a:r>
              <a:rPr lang="en-US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Spinal Orthosis (Brace)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Software: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TensorFlow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Numpy</a:t>
            </a:r>
            <a:r>
              <a:rPr lang="en-IN" dirty="0"/>
              <a:t> and Pandas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Scikit learn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FEF2B-EC47-5D1A-8A97-B8DCF2565BB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 descr="Force Sensitive Resistor Sensor FSR 1.4 (Round - 14mm Sensing Diameter –  Future Electronics Egypt">
            <a:extLst>
              <a:ext uri="{FF2B5EF4-FFF2-40B4-BE49-F238E27FC236}">
                <a16:creationId xmlns:a16="http://schemas.microsoft.com/office/drawing/2014/main" id="{793FD56A-71EF-C538-6140-FFFA8E2A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9869" y="484499"/>
            <a:ext cx="2266336" cy="2266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4976E7-855B-11F8-C475-314A24340059}"/>
              </a:ext>
            </a:extLst>
          </p:cNvPr>
          <p:cNvSpPr txBox="1"/>
          <p:nvPr/>
        </p:nvSpPr>
        <p:spPr>
          <a:xfrm>
            <a:off x="9429750" y="2590800"/>
            <a:ext cx="159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FSR sensor</a:t>
            </a:r>
            <a:endParaRPr lang="en-IN" dirty="0"/>
          </a:p>
        </p:txBody>
      </p:sp>
      <p:pic>
        <p:nvPicPr>
          <p:cNvPr id="8" name="Picture 7" descr="SP500 SpinAir Back Orthosis — Trulife">
            <a:extLst>
              <a:ext uri="{FF2B5EF4-FFF2-40B4-BE49-F238E27FC236}">
                <a16:creationId xmlns:a16="http://schemas.microsoft.com/office/drawing/2014/main" id="{AA78E78B-E785-9D4B-31CB-A30AFCAA7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793" y="760218"/>
            <a:ext cx="1603765" cy="28580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F00DA3-A11E-8B2D-4C09-3246CB90F2A5}"/>
              </a:ext>
            </a:extLst>
          </p:cNvPr>
          <p:cNvSpPr txBox="1"/>
          <p:nvPr/>
        </p:nvSpPr>
        <p:spPr>
          <a:xfrm>
            <a:off x="7118793" y="3733800"/>
            <a:ext cx="1853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Spinal Orthosis</a:t>
            </a:r>
            <a:endParaRPr lang="en-IN" dirty="0"/>
          </a:p>
        </p:txBody>
      </p:sp>
      <p:pic>
        <p:nvPicPr>
          <p:cNvPr id="10" name="Picture 9" descr="Python (programming language) - Wikipedia">
            <a:extLst>
              <a:ext uri="{FF2B5EF4-FFF2-40B4-BE49-F238E27FC236}">
                <a16:creationId xmlns:a16="http://schemas.microsoft.com/office/drawing/2014/main" id="{3EEFB6C0-194D-198E-F626-ABF524E96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2528" y="3351302"/>
            <a:ext cx="1448215" cy="14482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D438B8-4C0D-9EC9-5F8A-F95E3274D12B}"/>
              </a:ext>
            </a:extLst>
          </p:cNvPr>
          <p:cNvSpPr txBox="1"/>
          <p:nvPr/>
        </p:nvSpPr>
        <p:spPr>
          <a:xfrm>
            <a:off x="9658350" y="5029200"/>
            <a:ext cx="1362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Python</a:t>
            </a:r>
            <a:endParaRPr lang="en-IN" dirty="0"/>
          </a:p>
        </p:txBody>
      </p:sp>
      <p:pic>
        <p:nvPicPr>
          <p:cNvPr id="12" name="Picture 11" descr="TensorFlow - YouTube">
            <a:extLst>
              <a:ext uri="{FF2B5EF4-FFF2-40B4-BE49-F238E27FC236}">
                <a16:creationId xmlns:a16="http://schemas.microsoft.com/office/drawing/2014/main" id="{16845561-2564-2A50-C96D-B9DBBF911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486" y="4301847"/>
            <a:ext cx="1824038" cy="18240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2D0D136-0E04-F32E-06E3-0AC2F49ECF94}"/>
              </a:ext>
            </a:extLst>
          </p:cNvPr>
          <p:cNvSpPr txBox="1"/>
          <p:nvPr/>
        </p:nvSpPr>
        <p:spPr>
          <a:xfrm>
            <a:off x="6534150" y="6125885"/>
            <a:ext cx="1824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TensorFlow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5748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5334-55A5-4070-EC49-CC5F9CA0E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8303" y="233362"/>
            <a:ext cx="7340981" cy="492443"/>
          </a:xfrm>
        </p:spPr>
        <p:txBody>
          <a:bodyPr/>
          <a:lstStyle/>
          <a:p>
            <a:pPr algn="ctr"/>
            <a:r>
              <a:rPr lang="en-IN" dirty="0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0DD77-86EA-C7AF-04E0-3F9AEFEFA4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3157" y="1126807"/>
            <a:ext cx="10161270" cy="4616648"/>
          </a:xfrm>
        </p:spPr>
        <p:txBody>
          <a:bodyPr/>
          <a:lstStyle/>
          <a:p>
            <a:r>
              <a:rPr lang="en-IN" b="1" dirty="0"/>
              <a:t>[1] </a:t>
            </a:r>
            <a:r>
              <a:rPr lang="en-IN" dirty="0"/>
              <a:t>F. K. Fuss, A. Ahmad, A. M. Tan, R. </a:t>
            </a:r>
            <a:r>
              <a:rPr lang="en-IN" dirty="0" err="1"/>
              <a:t>Razman</a:t>
            </a:r>
            <a:r>
              <a:rPr lang="en-IN" dirty="0"/>
              <a:t>, and Y. Weizman, "Pressure Sensor System for Customized Scoliosis Braces," Sensors, vol. 21, no. 4, Art. no. 1153, 2021.</a:t>
            </a:r>
          </a:p>
          <a:p>
            <a:endParaRPr lang="en-IN" b="1" dirty="0"/>
          </a:p>
          <a:p>
            <a:r>
              <a:rPr lang="en-IN" b="1" dirty="0"/>
              <a:t>[2] </a:t>
            </a:r>
            <a:r>
              <a:rPr lang="en-IN" dirty="0"/>
              <a:t>J. Kim et al., "A Wearable Sensor Array for Real-Time Spine Posture Monitoring During Exercise," IEEE Transactions on Biomedical Engineering, 2023.</a:t>
            </a:r>
          </a:p>
          <a:p>
            <a:endParaRPr lang="en-IN" b="1" dirty="0"/>
          </a:p>
          <a:p>
            <a:r>
              <a:rPr lang="en-IN" b="1" dirty="0"/>
              <a:t>[3] </a:t>
            </a:r>
            <a:r>
              <a:rPr lang="en-IN" dirty="0"/>
              <a:t>H. Liu et al., "Integrated Pressure Sensor and </a:t>
            </a:r>
            <a:r>
              <a:rPr lang="en-IN" dirty="0" err="1"/>
              <a:t>sEMG</a:t>
            </a:r>
            <a:r>
              <a:rPr lang="en-IN" dirty="0"/>
              <a:t> Array for Scoliosis Monitoring," in IEEE Conference Proceedings, 2024.</a:t>
            </a:r>
          </a:p>
          <a:p>
            <a:endParaRPr lang="en-IN" b="1" dirty="0"/>
          </a:p>
          <a:p>
            <a:r>
              <a:rPr lang="en-IN" b="1" dirty="0"/>
              <a:t>[4] </a:t>
            </a:r>
            <a:r>
              <a:rPr lang="en-IN" dirty="0"/>
              <a:t>S. Wang et al., "Flexible Wearable Sensors for Spinal Orthosis Monitoring: A Review," IEEE Access, 2025.</a:t>
            </a:r>
          </a:p>
          <a:p>
            <a:endParaRPr lang="en-IN" b="1" dirty="0"/>
          </a:p>
          <a:p>
            <a:r>
              <a:rPr lang="en-IN" b="1" dirty="0"/>
              <a:t>[5] </a:t>
            </a:r>
            <a:r>
              <a:rPr lang="en-IN" dirty="0"/>
              <a:t>Y. Zhang et al., "Applied Research on Pressure Distribution Detection Technology of Spinal Orthosis," in IEEE Conference Proceedings, 2023.</a:t>
            </a:r>
          </a:p>
          <a:p>
            <a:pPr algn="ctr"/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B038C-5A3E-01CB-A1C2-4E562C2455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359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</TotalTime>
  <Words>1027</Words>
  <Application>Microsoft Office PowerPoint</Application>
  <PresentationFormat>Custom</PresentationFormat>
  <Paragraphs>176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Calibri</vt:lpstr>
      <vt:lpstr>Times New Roman</vt:lpstr>
      <vt:lpstr>Office Theme</vt:lpstr>
      <vt:lpstr>KONGU ENGINEERING COLLEGE</vt:lpstr>
      <vt:lpstr>INTRODUCTION</vt:lpstr>
      <vt:lpstr>EXISTING SOLUTION</vt:lpstr>
      <vt:lpstr>Literature Survey</vt:lpstr>
      <vt:lpstr>Base Paper</vt:lpstr>
      <vt:lpstr>SCOLIOSIS </vt:lpstr>
      <vt:lpstr>Solution </vt:lpstr>
      <vt:lpstr>AI Models Proposed</vt:lpstr>
      <vt:lpstr>Block Diagram </vt:lpstr>
      <vt:lpstr>Hardware and Software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KIRUBAGARAN A</dc:creator>
  <cp:lastModifiedBy>KIRUBAGARAN A</cp:lastModifiedBy>
  <cp:revision>94</cp:revision>
  <dcterms:created xsi:type="dcterms:W3CDTF">2026-02-21T03:28:26Z</dcterms:created>
  <dcterms:modified xsi:type="dcterms:W3CDTF">2026-06-23T14:45:43Z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LastSaved">
    <vt:filetime>2026-02-21T00:00:00Z</vt:filetime>
  </property>
</Properties>
</file>